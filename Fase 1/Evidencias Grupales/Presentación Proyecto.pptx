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6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00A896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FASE 1 · DEFINICIÓN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WellQ APP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AE6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FEAE6"/>
                </a:solidFill>
                <a:latin typeface="Calibri"/>
                <a:ea typeface="Calibri"/>
                <a:cs typeface="Calibri"/>
                <a:sym typeface="Calibri"/>
              </a:rPr>
              <a:t>Plataforma digital para la gestión de exámenes médicos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4160520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822960" y="43434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C9C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C9C5"/>
                </a:solidFill>
                <a:latin typeface="Calibri"/>
                <a:ea typeface="Calibri"/>
                <a:cs typeface="Calibri"/>
                <a:sym typeface="Calibri"/>
              </a:rPr>
              <a:t>Centralizando, ordenando y asegurando el flujo documental de exámenes médicos para clínicas de rehabilitación.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1 · OBJETIVO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Objetivo de construcción del software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548640" y="132588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Entregar un sistema funcional que resuelva la fragmentación de archivos médicos, articulando tres componentes centrales: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2286000"/>
            <a:ext cx="3337560" cy="283464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B2B2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68680" y="260604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868680" y="2606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22960" y="338328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Interfaz Web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822960" y="406908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Gestión administrativa y clínica para profesionales y personal administrativo.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206240" y="2286000"/>
            <a:ext cx="3337560" cy="283464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B2B2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26280" y="2606040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526280" y="2606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4480560" y="338328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Interfaz Móvil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4480560" y="406908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Acceso y carga autónoma de exámenes para pacientes desde su teléfono.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863840" y="2286000"/>
            <a:ext cx="3337560" cy="283464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B2B2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183880" y="260604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8183880" y="2606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8138160" y="338328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Núcleo de servicios (Backend)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8138160" y="406908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Garantiza persistencia de datos, trazabilidad y almacenamiento seguro de documentos.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1 · VALOR PARA EL NEGOCIO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De un proceso disperso a un flujo digital auditable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828800"/>
            <a:ext cx="5074920" cy="3749040"/>
          </a:xfrm>
          <a:prstGeom prst="roundRect">
            <a:avLst>
              <a:gd fmla="val 2439" name="adj"/>
            </a:avLst>
          </a:prstGeom>
          <a:solidFill>
            <a:srgbClr val="FB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868680" y="2103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5453D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868680" y="24688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Proceso disperso e informal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868680" y="306324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Correos electrónicos dispersos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868680" y="356616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Papeles y documentos físicos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868680" y="40690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Carpetas sueltas, sin trazabilidad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868680" y="457200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Sin separación clara por clínica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989320" y="1828800"/>
            <a:ext cx="5074920" cy="3749040"/>
          </a:xfrm>
          <a:prstGeom prst="roundRect">
            <a:avLst>
              <a:gd fmla="val 2439" name="adj"/>
            </a:avLst>
          </a:prstGeom>
          <a:solidFill>
            <a:srgbClr val="0156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309360" y="2103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 WELLQ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6309360" y="24688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Flujo digital, ordenado y seguro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6309360" y="306324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D9F2EE"/>
                </a:solidFill>
                <a:latin typeface="Calibri"/>
                <a:ea typeface="Calibri"/>
                <a:cs typeface="Calibri"/>
                <a:sym typeface="Calibri"/>
              </a:rPr>
              <a:t>Documentos centralizados y versionados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6309360" y="356616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D9F2EE"/>
                </a:solidFill>
                <a:latin typeface="Calibri"/>
                <a:ea typeface="Calibri"/>
                <a:cs typeface="Calibri"/>
                <a:sym typeface="Calibri"/>
              </a:rPr>
              <a:t>Trazabilidad y auditoría de accesos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6309360" y="40690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D9F2EE"/>
                </a:solidFill>
                <a:latin typeface="Calibri"/>
                <a:ea typeface="Calibri"/>
                <a:cs typeface="Calibri"/>
                <a:sym typeface="Calibri"/>
              </a:rPr>
              <a:t>Almacenamiento seguro de archivos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6309360" y="457200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D9F2EE"/>
                </a:solidFill>
                <a:latin typeface="Calibri"/>
                <a:ea typeface="Calibri"/>
                <a:cs typeface="Calibri"/>
                <a:sym typeface="Calibri"/>
              </a:rPr>
              <a:t>Multitenancy: datos separados por clínica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2 · ALCANCES Y LÍMITES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Lo que SÍ incluye 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1737360"/>
            <a:ext cx="3337560" cy="352044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1417320" y="199339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Canal Web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417320" y="2267712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Profesionales y administrativos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822960" y="2743200"/>
            <a:ext cx="2788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Registro y gestión de pacientes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Carga, consulta, descarga y versionado de exámenes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Historial clínico en línea de tiempo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Auditoría de accesos y descargas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206240" y="1737360"/>
            <a:ext cx="3337560" cy="352044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5074920" y="199339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Canal Móvil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5074920" y="2267712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Pacientes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4480560" y="2743200"/>
            <a:ext cx="2788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App Android para consulta de historial propio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Carga de documentos desde el celular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Consulta local/offline mediante base de datos liviana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863840" y="1737360"/>
            <a:ext cx="3337560" cy="352044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138160" y="20116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81381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8732520" y="199339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Lógica y seguridad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732520" y="2267712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Negocio y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8138160" y="2743200"/>
            <a:ext cx="2788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Autenticación y roles (Admin, Profesional, Paciente)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Separación lógica por clínica (multitenant)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5B7A76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Almacenamiento centralizado y seguro de archivos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2 · ALCANCES Y LÍMITES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Lo que NO incluye 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Límites definidos para esta fase, por priorización de tiempos y alcance técnico.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19659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868680" y="2308860"/>
            <a:ext cx="731520" cy="731520"/>
          </a:xfrm>
          <a:prstGeom prst="ellipse">
            <a:avLst/>
          </a:prstGeom>
          <a:solidFill>
            <a:srgbClr val="B54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868680" y="23088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1828800" y="2167128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Ecosistema Apple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828800" y="2560320"/>
            <a:ext cx="9052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No contempla desarrollo ni publicación de versión para iOS (limitación de hardware y priorización de tiempos).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352044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68680" y="3863340"/>
            <a:ext cx="731520" cy="731520"/>
          </a:xfrm>
          <a:prstGeom prst="ellipse">
            <a:avLst/>
          </a:prstGeom>
          <a:solidFill>
            <a:srgbClr val="B54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868680" y="38633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1828800" y="3721608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Integraciones externas complejas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1828800" y="4114800"/>
            <a:ext cx="9052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Sin conexión a sistemas hospitalarios (HIS, RIS, PACS), sin integración con dispositivos médicos o wearables, y sin conexión al entorno productivo previo de WellQ.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507492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68680" y="5417820"/>
            <a:ext cx="731520" cy="731520"/>
          </a:xfrm>
          <a:prstGeom prst="ellipse">
            <a:avLst/>
          </a:prstGeom>
          <a:solidFill>
            <a:srgbClr val="B54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86868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1828800" y="5276088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Inteligencia Artificial clínica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828800" y="5669280"/>
            <a:ext cx="9052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No contempla diagnóstico asistido ni lectura o interpretación automática de exámenes por 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3 · CRONOGRAMA Y FASES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9 semanas de desarrollo iterativo e incremental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Metodología ágil adaptada (Scrum), estructurada en 4 fases con puntos de control claros.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8"/>
          <p:cNvCxnSpPr/>
          <p:nvPr/>
        </p:nvCxnSpPr>
        <p:spPr>
          <a:xfrm>
            <a:off x="1783080" y="2788920"/>
            <a:ext cx="8595360" cy="0"/>
          </a:xfrm>
          <a:prstGeom prst="straightConnector1">
            <a:avLst/>
          </a:prstGeom>
          <a:noFill/>
          <a:ln cap="flat" cmpd="sng" w="38100">
            <a:solidFill>
              <a:srgbClr val="CF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8"/>
          <p:cNvSpPr/>
          <p:nvPr/>
        </p:nvSpPr>
        <p:spPr>
          <a:xfrm>
            <a:off x="1581912" y="2587752"/>
            <a:ext cx="402336" cy="402336"/>
          </a:xfrm>
          <a:prstGeom prst="ellipse">
            <a:avLst/>
          </a:prstGeom>
          <a:solidFill>
            <a:srgbClr val="028090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96012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Semanas 1–2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8640" y="3246120"/>
            <a:ext cx="246888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685800" y="3410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Fase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85800" y="3749040"/>
            <a:ext cx="21945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Alcance, Backlog y Diseño Arquitectónico Validado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447032" y="2587752"/>
            <a:ext cx="402336" cy="402336"/>
          </a:xfrm>
          <a:prstGeom prst="ellipse">
            <a:avLst/>
          </a:prstGeom>
          <a:solidFill>
            <a:srgbClr val="00A896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382524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Semanas 3–5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413760" y="3246120"/>
            <a:ext cx="246888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3550920" y="3410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Fase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3550920" y="3749040"/>
            <a:ext cx="21945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Primer MVP Funcional (Autenticación + Carga/Consulta)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312152" y="2587752"/>
            <a:ext cx="402336" cy="402336"/>
          </a:xfrm>
          <a:prstGeom prst="ellipse">
            <a:avLst/>
          </a:prstGeom>
          <a:solidFill>
            <a:srgbClr val="02C39A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669036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Semanas 6–7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278880" y="3246120"/>
            <a:ext cx="246888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6416040" y="3410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Fase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6416040" y="3749040"/>
            <a:ext cx="21945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Funcionalidades Avanzadas (Versionado, Auditoría, Separaci</a:t>
            </a:r>
            <a:r>
              <a:rPr lang="en-US" sz="1050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b="0" i="0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 Mul</a:t>
            </a:r>
            <a:r>
              <a:rPr lang="en-US" sz="1050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ticlinica</a:t>
            </a:r>
            <a:r>
              <a:rPr b="0" i="0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0177272" y="2587752"/>
            <a:ext cx="402336" cy="402336"/>
          </a:xfrm>
          <a:prstGeom prst="ellipse">
            <a:avLst/>
          </a:prstGeom>
          <a:solidFill>
            <a:srgbClr val="01565F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955548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6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1565F"/>
                </a:solidFill>
                <a:latin typeface="Calibri"/>
                <a:ea typeface="Calibri"/>
                <a:cs typeface="Calibri"/>
                <a:sym typeface="Calibri"/>
              </a:rPr>
              <a:t>Semanas 8–9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144000" y="3246120"/>
            <a:ext cx="246888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9281160" y="3410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65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1565F"/>
                </a:solidFill>
                <a:latin typeface="Cambria"/>
                <a:ea typeface="Cambria"/>
                <a:cs typeface="Cambria"/>
                <a:sym typeface="Cambria"/>
              </a:rPr>
              <a:t>Fase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9281160" y="3749040"/>
            <a:ext cx="21945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Pruebas Integradas, Despliegue y Entrega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3 · PUNTOS DE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Hitos clave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1691640"/>
            <a:ext cx="5120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554480" y="194767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Fundamentos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822960" y="256032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Definición del modelo de datos, diseño de flujos de usuario y configuración del entorno de integración y despliegue.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989320" y="1691640"/>
            <a:ext cx="5120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263640" y="196596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6263640" y="1965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995160" y="194767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MVP Operativo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6263640" y="256032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Flujo punta a punta básico completado: un paciente sube un examen y un profesional lo visualiza en la web.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4114800"/>
            <a:ext cx="5120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1554480" y="43708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Trazabilidad y Reglas de Negocio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822960" y="498348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Auditoría, control estricto de multitenancy y soporte para versiones de un mismo examen.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989320" y="4114800"/>
            <a:ext cx="5120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B2B2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263640" y="43891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6263640" y="4389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6995160" y="43708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Congelamiento de Código y Validación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6263640" y="498348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Estabilización sin nuevas funciones; foco en pruebas de calidad, corrección de errores y demo final.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BLOQUE 4 · ARQUITECTURA FUNCIONAL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Cómo se conecta la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Enfoque conceptual: cómo interactúan las piezas del sistema (no un listado de tecnologías).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286000" y="1920240"/>
            <a:ext cx="3017520" cy="777240"/>
          </a:xfrm>
          <a:prstGeom prst="roundRect">
            <a:avLst>
              <a:gd fmla="val 9412" name="adj"/>
            </a:avLst>
          </a:prstGeom>
          <a:solidFill>
            <a:srgbClr val="0156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2286000" y="20299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Portal Web Clínico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2286000" y="23500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A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FEAE6"/>
                </a:solidFill>
                <a:latin typeface="Calibri"/>
                <a:ea typeface="Calibri"/>
                <a:cs typeface="Calibri"/>
                <a:sym typeface="Calibri"/>
              </a:rPr>
              <a:t>Gestión / Consulta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858000" y="1920240"/>
            <a:ext cx="3017520" cy="777240"/>
          </a:xfrm>
          <a:prstGeom prst="roundRect">
            <a:avLst>
              <a:gd fmla="val 9412" name="adj"/>
            </a:avLst>
          </a:prstGeom>
          <a:solidFill>
            <a:srgbClr val="0156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6858000" y="20299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 Móvil Paciente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858000" y="23500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A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FEAE6"/>
                </a:solidFill>
                <a:latin typeface="Calibri"/>
                <a:ea typeface="Calibri"/>
                <a:cs typeface="Calibri"/>
                <a:sym typeface="Calibri"/>
              </a:rPr>
              <a:t>Autonomía / Carga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10"/>
          <p:cNvCxnSpPr/>
          <p:nvPr/>
        </p:nvCxnSpPr>
        <p:spPr>
          <a:xfrm>
            <a:off x="3794760" y="269748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0"/>
          <p:cNvCxnSpPr/>
          <p:nvPr/>
        </p:nvCxnSpPr>
        <p:spPr>
          <a:xfrm>
            <a:off x="8366760" y="269748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10"/>
          <p:cNvCxnSpPr/>
          <p:nvPr/>
        </p:nvCxnSpPr>
        <p:spPr>
          <a:xfrm>
            <a:off x="3794760" y="292608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6080760" y="292608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0"/>
          <p:cNvSpPr/>
          <p:nvPr/>
        </p:nvSpPr>
        <p:spPr>
          <a:xfrm>
            <a:off x="3200400" y="3154680"/>
            <a:ext cx="5760720" cy="777240"/>
          </a:xfrm>
          <a:prstGeom prst="roundRect">
            <a:avLst>
              <a:gd fmla="val 9412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3200400" y="3264408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Capa de Entrada y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3200400" y="3584448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3A35"/>
                </a:solidFill>
                <a:latin typeface="Calibri"/>
                <a:ea typeface="Calibri"/>
                <a:cs typeface="Calibri"/>
                <a:sym typeface="Calibri"/>
              </a:rPr>
              <a:t>Seguridad / Roles / Multitenant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0"/>
          <p:cNvCxnSpPr/>
          <p:nvPr/>
        </p:nvCxnSpPr>
        <p:spPr>
          <a:xfrm>
            <a:off x="6080760" y="393192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0"/>
          <p:cNvCxnSpPr/>
          <p:nvPr/>
        </p:nvCxnSpPr>
        <p:spPr>
          <a:xfrm>
            <a:off x="3794760" y="416052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0"/>
          <p:cNvCxnSpPr/>
          <p:nvPr/>
        </p:nvCxnSpPr>
        <p:spPr>
          <a:xfrm>
            <a:off x="3794760" y="416052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0"/>
          <p:cNvCxnSpPr/>
          <p:nvPr/>
        </p:nvCxnSpPr>
        <p:spPr>
          <a:xfrm>
            <a:off x="8366760" y="416052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7A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0"/>
          <p:cNvSpPr/>
          <p:nvPr/>
        </p:nvSpPr>
        <p:spPr>
          <a:xfrm>
            <a:off x="2286000" y="4389120"/>
            <a:ext cx="301752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2286000" y="44988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Gestor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2286000" y="481888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Estructuras, relaciones, trazas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858000" y="4389120"/>
            <a:ext cx="301752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6858000" y="44988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E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302E"/>
                </a:solidFill>
                <a:latin typeface="Cambria"/>
                <a:ea typeface="Cambria"/>
                <a:cs typeface="Cambria"/>
                <a:sym typeface="Cambria"/>
              </a:rPr>
              <a:t>Repositorio Digital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6858000" y="481888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Archivos médicos, documentos pesados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El dispositivo móvil mantiene un almacenamiento local temporal para consultar información previamente descargada sin depender de la red en todo momento.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65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0A896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RESUMEN DE FACTIBILIDAD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822960" y="105156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proyecto acotado, viable y con impacto real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822960" y="30175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Alcance definido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822960" y="3383280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A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AE6"/>
                </a:solidFill>
                <a:latin typeface="Calibri"/>
                <a:ea typeface="Calibri"/>
                <a:cs typeface="Calibri"/>
                <a:sym typeface="Calibri"/>
              </a:rPr>
              <a:t>Funcionalidades web y móvil claramente delimitadas, con límites explícitos.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72000" y="2331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457200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4572000" y="30175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 semanas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4572000" y="3383280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A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AE6"/>
                </a:solidFill>
                <a:latin typeface="Calibri"/>
                <a:ea typeface="Calibri"/>
                <a:cs typeface="Calibri"/>
                <a:sym typeface="Calibri"/>
              </a:rPr>
              <a:t>Plan ágil con 4 fases y 4 hitos de control verificables.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321040" y="2331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832104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8321040" y="30175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clara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8321040" y="3383280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A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AE6"/>
                </a:solidFill>
                <a:latin typeface="Calibri"/>
                <a:ea typeface="Calibri"/>
                <a:cs typeface="Calibri"/>
                <a:sym typeface="Calibri"/>
              </a:rPr>
              <a:t>Conexión conceptual validada entre clientes, API y almacenamiento.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822960" y="484632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1C6B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1"/>
          <p:cNvSpPr txBox="1"/>
          <p:nvPr/>
        </p:nvSpPr>
        <p:spPr>
          <a:xfrm>
            <a:off x="822960" y="50749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9C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C9C5"/>
                </a:solidFill>
                <a:latin typeface="Calibri"/>
                <a:ea typeface="Calibri"/>
                <a:cs typeface="Calibri"/>
                <a:sym typeface="Calibri"/>
              </a:rPr>
              <a:t>Con el alcance, cronograma y arquitectura validados en esta Fase 1, el equipo está listo para iniciar la construcción del MVP en la Fase 2.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6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